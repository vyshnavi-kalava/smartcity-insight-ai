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94ADE9-0989-4172-847B-301673F72856}" v="2" dt="2026-09-20T16:56:30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navikalava939@outlook.com" userId="3c1e7c3f259ac6b6" providerId="LiveId" clId="{98465554-B0D4-4B6E-A93E-CFBF0DA980F4}"/>
    <pc:docChg chg="custSel addSld delSld modSld">
      <pc:chgData name="vyshnavikalava939@outlook.com" userId="3c1e7c3f259ac6b6" providerId="LiveId" clId="{98465554-B0D4-4B6E-A93E-CFBF0DA980F4}" dt="2026-09-20T16:58:10.864" v="120" actId="2696"/>
      <pc:docMkLst>
        <pc:docMk/>
      </pc:docMkLst>
      <pc:sldChg chg="delSp modSp mod">
        <pc:chgData name="vyshnavikalava939@outlook.com" userId="3c1e7c3f259ac6b6" providerId="LiveId" clId="{98465554-B0D4-4B6E-A93E-CFBF0DA980F4}" dt="2026-09-20T16:57:16.404" v="114" actId="1076"/>
        <pc:sldMkLst>
          <pc:docMk/>
          <pc:sldMk cId="0" sldId="256"/>
        </pc:sldMkLst>
        <pc:spChg chg="del mod">
          <ac:chgData name="vyshnavikalava939@outlook.com" userId="3c1e7c3f259ac6b6" providerId="LiveId" clId="{98465554-B0D4-4B6E-A93E-CFBF0DA980F4}" dt="2026-09-20T16:52:26.240" v="2"/>
          <ac:spMkLst>
            <pc:docMk/>
            <pc:sldMk cId="0" sldId="256"/>
            <ac:spMk id="3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16.404" v="114" actId="1076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7:35.298" v="116" actId="1076"/>
        <pc:sldMkLst>
          <pc:docMk/>
          <pc:sldMk cId="0" sldId="257"/>
        </pc:sldMkLst>
        <pc:spChg chg="del mod">
          <ac:chgData name="vyshnavikalava939@outlook.com" userId="3c1e7c3f259ac6b6" providerId="LiveId" clId="{98465554-B0D4-4B6E-A93E-CFBF0DA980F4}" dt="2026-09-20T16:52:31.833" v="5"/>
          <ac:spMkLst>
            <pc:docMk/>
            <pc:sldMk cId="0" sldId="257"/>
            <ac:spMk id="3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29.564" v="11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35.298" v="116" actId="1076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7:54.013" v="119" actId="1076"/>
        <pc:sldMkLst>
          <pc:docMk/>
          <pc:sldMk cId="0" sldId="258"/>
        </pc:sldMkLst>
        <pc:spChg chg="del mod">
          <ac:chgData name="vyshnavikalava939@outlook.com" userId="3c1e7c3f259ac6b6" providerId="LiveId" clId="{98465554-B0D4-4B6E-A93E-CFBF0DA980F4}" dt="2026-09-20T16:52:39.472" v="8"/>
          <ac:spMkLst>
            <pc:docMk/>
            <pc:sldMk cId="0" sldId="258"/>
            <ac:spMk id="3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42.978" v="11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54.013" v="119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vyshnavikalava939@outlook.com" userId="3c1e7c3f259ac6b6" providerId="LiveId" clId="{98465554-B0D4-4B6E-A93E-CFBF0DA980F4}" dt="2026-09-20T16:57:50.458" v="118" actId="1076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2:43.339" v="11"/>
        <pc:sldMkLst>
          <pc:docMk/>
          <pc:sldMk cId="0" sldId="259"/>
        </pc:sldMkLst>
        <pc:spChg chg="del mod">
          <ac:chgData name="vyshnavikalava939@outlook.com" userId="3c1e7c3f259ac6b6" providerId="LiveId" clId="{98465554-B0D4-4B6E-A93E-CFBF0DA980F4}" dt="2026-09-20T16:52:43.339" v="11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2:49.397" v="15"/>
        <pc:sldMkLst>
          <pc:docMk/>
          <pc:sldMk cId="0" sldId="260"/>
        </pc:sldMkLst>
        <pc:spChg chg="del mod">
          <ac:chgData name="vyshnavikalava939@outlook.com" userId="3c1e7c3f259ac6b6" providerId="LiveId" clId="{98465554-B0D4-4B6E-A93E-CFBF0DA980F4}" dt="2026-09-20T16:52:49.397" v="15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2:55.095" v="18"/>
        <pc:sldMkLst>
          <pc:docMk/>
          <pc:sldMk cId="0" sldId="261"/>
        </pc:sldMkLst>
        <pc:spChg chg="del mod">
          <ac:chgData name="vyshnavikalava939@outlook.com" userId="3c1e7c3f259ac6b6" providerId="LiveId" clId="{98465554-B0D4-4B6E-A93E-CFBF0DA980F4}" dt="2026-09-20T16:52:55.095" v="18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2:59.062" v="21"/>
        <pc:sldMkLst>
          <pc:docMk/>
          <pc:sldMk cId="0" sldId="262"/>
        </pc:sldMkLst>
        <pc:spChg chg="del mod">
          <ac:chgData name="vyshnavikalava939@outlook.com" userId="3c1e7c3f259ac6b6" providerId="LiveId" clId="{98465554-B0D4-4B6E-A93E-CFBF0DA980F4}" dt="2026-09-20T16:52:59.062" v="21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vyshnavikalava939@outlook.com" userId="3c1e7c3f259ac6b6" providerId="LiveId" clId="{98465554-B0D4-4B6E-A93E-CFBF0DA980F4}" dt="2026-09-20T16:53:08.703" v="24"/>
        <pc:sldMkLst>
          <pc:docMk/>
          <pc:sldMk cId="0" sldId="263"/>
        </pc:sldMkLst>
        <pc:spChg chg="del mod">
          <ac:chgData name="vyshnavikalava939@outlook.com" userId="3c1e7c3f259ac6b6" providerId="LiveId" clId="{98465554-B0D4-4B6E-A93E-CFBF0DA980F4}" dt="2026-09-20T16:53:08.703" v="24"/>
          <ac:spMkLst>
            <pc:docMk/>
            <pc:sldMk cId="0" sldId="263"/>
            <ac:spMk id="3" creationId="{00000000-0000-0000-0000-000000000000}"/>
          </ac:spMkLst>
        </pc:spChg>
      </pc:sldChg>
      <pc:sldChg chg="new del">
        <pc:chgData name="vyshnavikalava939@outlook.com" userId="3c1e7c3f259ac6b6" providerId="LiveId" clId="{98465554-B0D4-4B6E-A93E-CFBF0DA980F4}" dt="2026-09-20T16:54:43.260" v="26" actId="2696"/>
        <pc:sldMkLst>
          <pc:docMk/>
          <pc:sldMk cId="5186652" sldId="264"/>
        </pc:sldMkLst>
      </pc:sldChg>
      <pc:sldChg chg="new del">
        <pc:chgData name="vyshnavikalava939@outlook.com" userId="3c1e7c3f259ac6b6" providerId="LiveId" clId="{98465554-B0D4-4B6E-A93E-CFBF0DA980F4}" dt="2026-09-20T16:54:51.258" v="28" actId="2696"/>
        <pc:sldMkLst>
          <pc:docMk/>
          <pc:sldMk cId="236916926" sldId="264"/>
        </pc:sldMkLst>
      </pc:sldChg>
      <pc:sldChg chg="new del">
        <pc:chgData name="vyshnavikalava939@outlook.com" userId="3c1e7c3f259ac6b6" providerId="LiveId" clId="{98465554-B0D4-4B6E-A93E-CFBF0DA980F4}" dt="2026-09-20T16:58:10.864" v="120" actId="2696"/>
        <pc:sldMkLst>
          <pc:docMk/>
          <pc:sldMk cId="476884117" sldId="264"/>
        </pc:sldMkLst>
      </pc:sldChg>
      <pc:sldChg chg="delSp modSp add del mod">
        <pc:chgData name="vyshnavikalava939@outlook.com" userId="3c1e7c3f259ac6b6" providerId="LiveId" clId="{98465554-B0D4-4B6E-A93E-CFBF0DA980F4}" dt="2026-09-20T16:55:26.278" v="38" actId="2696"/>
        <pc:sldMkLst>
          <pc:docMk/>
          <pc:sldMk cId="3552376701" sldId="264"/>
        </pc:sldMkLst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4" creationId="{FB23DB01-0E7B-B321-161A-399E0A7F470E}"/>
          </ac:spMkLst>
        </pc:spChg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5" creationId="{FA0D0CB8-F153-AC7F-47B1-FD6A8A00DE90}"/>
          </ac:spMkLst>
        </pc:spChg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6" creationId="{F50051C7-C2B6-8852-96BC-CB20360ABFAD}"/>
          </ac:spMkLst>
        </pc:spChg>
        <pc:spChg chg="del mod">
          <ac:chgData name="vyshnavikalava939@outlook.com" userId="3c1e7c3f259ac6b6" providerId="LiveId" clId="{98465554-B0D4-4B6E-A93E-CFBF0DA980F4}" dt="2026-09-20T16:55:10.295" v="34"/>
          <ac:spMkLst>
            <pc:docMk/>
            <pc:sldMk cId="3552376701" sldId="264"/>
            <ac:spMk id="7" creationId="{922C55F2-C8A5-C89B-C92E-841F28F5DD24}"/>
          </ac:spMkLst>
        </pc:spChg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8" creationId="{14889431-B3E3-E05D-1D5C-532944889B42}"/>
          </ac:spMkLst>
        </pc:spChg>
        <pc:spChg chg="del mod">
          <ac:chgData name="vyshnavikalava939@outlook.com" userId="3c1e7c3f259ac6b6" providerId="LiveId" clId="{98465554-B0D4-4B6E-A93E-CFBF0DA980F4}" dt="2026-09-20T16:55:10.295" v="36"/>
          <ac:spMkLst>
            <pc:docMk/>
            <pc:sldMk cId="3552376701" sldId="264"/>
            <ac:spMk id="9" creationId="{BD68D0DC-FB21-E912-0017-11F6C6B380F5}"/>
          </ac:spMkLst>
        </pc:spChg>
        <pc:spChg chg="del">
          <ac:chgData name="vyshnavikalava939@outlook.com" userId="3c1e7c3f259ac6b6" providerId="LiveId" clId="{98465554-B0D4-4B6E-A93E-CFBF0DA980F4}" dt="2026-09-20T16:55:10.261" v="32" actId="21"/>
          <ac:spMkLst>
            <pc:docMk/>
            <pc:sldMk cId="3552376701" sldId="264"/>
            <ac:spMk id="10" creationId="{DF30434A-1B9E-8033-E0EC-8BA41C7CDDB1}"/>
          </ac:spMkLst>
        </pc:spChg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11" creationId="{DC72C9A4-F602-1FE2-E73A-7AE9FE59F805}"/>
          </ac:spMkLst>
        </pc:spChg>
        <pc:spChg chg="del">
          <ac:chgData name="vyshnavikalava939@outlook.com" userId="3c1e7c3f259ac6b6" providerId="LiveId" clId="{98465554-B0D4-4B6E-A93E-CFBF0DA980F4}" dt="2026-09-20T16:55:17.703" v="37" actId="21"/>
          <ac:spMkLst>
            <pc:docMk/>
            <pc:sldMk cId="3552376701" sldId="264"/>
            <ac:spMk id="12" creationId="{E7371F18-4C8C-34D2-7D26-AE6D2ABB0043}"/>
          </ac:spMkLst>
        </pc:spChg>
        <pc:picChg chg="del">
          <ac:chgData name="vyshnavikalava939@outlook.com" userId="3c1e7c3f259ac6b6" providerId="LiveId" clId="{98465554-B0D4-4B6E-A93E-CFBF0DA980F4}" dt="2026-09-20T16:55:17.703" v="37" actId="21"/>
          <ac:picMkLst>
            <pc:docMk/>
            <pc:sldMk cId="3552376701" sldId="264"/>
            <ac:picMk id="2" creationId="{0D7A71A5-EC6F-22F7-0C58-7AE9C4D41067}"/>
          </ac:picMkLst>
        </pc:picChg>
      </pc:sldChg>
      <pc:sldChg chg="delSp modSp add mod">
        <pc:chgData name="vyshnavikalava939@outlook.com" userId="3c1e7c3f259ac6b6" providerId="LiveId" clId="{98465554-B0D4-4B6E-A93E-CFBF0DA980F4}" dt="2026-09-20T16:56:57.687" v="113" actId="1076"/>
        <pc:sldMkLst>
          <pc:docMk/>
          <pc:sldMk cId="201797264" sldId="265"/>
        </pc:sldMkLst>
        <pc:spChg chg="mod">
          <ac:chgData name="vyshnavikalava939@outlook.com" userId="3c1e7c3f259ac6b6" providerId="LiveId" clId="{98465554-B0D4-4B6E-A93E-CFBF0DA980F4}" dt="2026-09-20T16:56:57.687" v="113" actId="1076"/>
          <ac:spMkLst>
            <pc:docMk/>
            <pc:sldMk cId="201797264" sldId="265"/>
            <ac:spMk id="4" creationId="{4F2EC1CE-CA4D-4CA3-480A-E41045637F0B}"/>
          </ac:spMkLst>
        </pc:spChg>
        <pc:spChg chg="del mod">
          <ac:chgData name="vyshnavikalava939@outlook.com" userId="3c1e7c3f259ac6b6" providerId="LiveId" clId="{98465554-B0D4-4B6E-A93E-CFBF0DA980F4}" dt="2026-09-20T16:56:03.661" v="58"/>
          <ac:spMkLst>
            <pc:docMk/>
            <pc:sldMk cId="201797264" sldId="265"/>
            <ac:spMk id="5" creationId="{9AC7301C-88D2-A892-FEE9-F0A75BA41DC2}"/>
          </ac:spMkLst>
        </pc:spChg>
        <pc:spChg chg="del mod">
          <ac:chgData name="vyshnavikalava939@outlook.com" userId="3c1e7c3f259ac6b6" providerId="LiveId" clId="{98465554-B0D4-4B6E-A93E-CFBF0DA980F4}" dt="2026-09-20T16:56:03.645" v="56"/>
          <ac:spMkLst>
            <pc:docMk/>
            <pc:sldMk cId="201797264" sldId="265"/>
            <ac:spMk id="6" creationId="{C67B75B6-59E6-9AA0-10F6-8730CAC0AFD7}"/>
          </ac:spMkLst>
        </pc:spChg>
        <pc:spChg chg="del mod">
          <ac:chgData name="vyshnavikalava939@outlook.com" userId="3c1e7c3f259ac6b6" providerId="LiveId" clId="{98465554-B0D4-4B6E-A93E-CFBF0DA980F4}" dt="2026-09-20T16:56:03.645" v="50"/>
          <ac:spMkLst>
            <pc:docMk/>
            <pc:sldMk cId="201797264" sldId="265"/>
            <ac:spMk id="7" creationId="{4A247A3B-900D-E355-92CE-936859DB97D5}"/>
          </ac:spMkLst>
        </pc:spChg>
        <pc:spChg chg="del mod">
          <ac:chgData name="vyshnavikalava939@outlook.com" userId="3c1e7c3f259ac6b6" providerId="LiveId" clId="{98465554-B0D4-4B6E-A93E-CFBF0DA980F4}" dt="2026-09-20T16:56:03.645" v="54"/>
          <ac:spMkLst>
            <pc:docMk/>
            <pc:sldMk cId="201797264" sldId="265"/>
            <ac:spMk id="8" creationId="{0466430A-8064-5AD9-742D-38CD3EC1FF76}"/>
          </ac:spMkLst>
        </pc:spChg>
        <pc:spChg chg="del mod">
          <ac:chgData name="vyshnavikalava939@outlook.com" userId="3c1e7c3f259ac6b6" providerId="LiveId" clId="{98465554-B0D4-4B6E-A93E-CFBF0DA980F4}" dt="2026-09-20T16:56:03.645" v="52"/>
          <ac:spMkLst>
            <pc:docMk/>
            <pc:sldMk cId="201797264" sldId="265"/>
            <ac:spMk id="9" creationId="{FA2A6107-8F01-D8C9-8175-8462B7FDE55A}"/>
          </ac:spMkLst>
        </pc:spChg>
        <pc:spChg chg="del">
          <ac:chgData name="vyshnavikalava939@outlook.com" userId="3c1e7c3f259ac6b6" providerId="LiveId" clId="{98465554-B0D4-4B6E-A93E-CFBF0DA980F4}" dt="2026-09-20T16:56:03.627" v="48" actId="21"/>
          <ac:spMkLst>
            <pc:docMk/>
            <pc:sldMk cId="201797264" sldId="265"/>
            <ac:spMk id="10" creationId="{2BCE3EBC-1A59-796A-11A4-3CFA7AF14280}"/>
          </ac:spMkLst>
        </pc:spChg>
        <pc:spChg chg="del mod">
          <ac:chgData name="vyshnavikalava939@outlook.com" userId="3c1e7c3f259ac6b6" providerId="LiveId" clId="{98465554-B0D4-4B6E-A93E-CFBF0DA980F4}" dt="2026-09-20T16:56:03.661" v="62"/>
          <ac:spMkLst>
            <pc:docMk/>
            <pc:sldMk cId="201797264" sldId="265"/>
            <ac:spMk id="11" creationId="{EAD0AB98-832A-C30E-261F-5E7CD797D94C}"/>
          </ac:spMkLst>
        </pc:spChg>
        <pc:spChg chg="del mod">
          <ac:chgData name="vyshnavikalava939@outlook.com" userId="3c1e7c3f259ac6b6" providerId="LiveId" clId="{98465554-B0D4-4B6E-A93E-CFBF0DA980F4}" dt="2026-09-20T16:56:03.661" v="60"/>
          <ac:spMkLst>
            <pc:docMk/>
            <pc:sldMk cId="201797264" sldId="265"/>
            <ac:spMk id="12" creationId="{6324CF8A-7A80-AB19-BEFC-FF1003D5B9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F507B-22F2-4760-BF03-CF65319F459B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6AA43-C6F7-406B-A6E0-533FC4E81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8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6AA43-C6F7-406B-A6E0-533FC4E81E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3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47672" y="558928"/>
            <a:ext cx="9360309" cy="781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dirty="0" err="1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SmartCity</a:t>
            </a:r>
            <a:r>
              <a:rPr sz="48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Insight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672" y="1647923"/>
            <a:ext cx="8869680" cy="93128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Urban Grievance Pattern</a:t>
            </a:r>
            <a:r>
              <a:rPr lang="en-US" sz="2800" b="1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Root-Cause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2715" y="3013385"/>
            <a:ext cx="8778240" cy="3688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5669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for Sustainability  •  SDG 11 — Sustainable Cities and Communities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8325" y="3837872"/>
            <a:ext cx="9360310" cy="17008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2616" y="3929747"/>
            <a:ext cx="8577072" cy="418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4453127"/>
            <a:ext cx="8577072" cy="909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AI-assisted decision-support system that analyzes urban complaints to identify recurring problems, common locations, possible contributing factors, and areas requiring human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2888" y="5715000"/>
            <a:ext cx="8686800" cy="8061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r>
              <a:rPr sz="2400" b="0" dirty="0">
                <a:solidFill>
                  <a:srgbClr val="5669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Vyshnavi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Seshadri Rao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Gudlavalleru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College</a:t>
            </a:r>
            <a:endParaRPr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5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84248" y="614054"/>
            <a:ext cx="9692640" cy="6603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20580"/>
            <a:ext cx="886968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Cities receive complaints about public services and infrastructure across many locations and 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14884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12264" y="2267712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624328"/>
            <a:ext cx="245059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flooding after rainfall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214884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9784" y="2267712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Drainage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4" y="2624328"/>
            <a:ext cx="245059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Blocked or inadequate drainage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14884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47304" y="2267712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624328"/>
            <a:ext cx="245059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Potholes and surface damage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370332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12264" y="3822191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4" y="4178808"/>
            <a:ext cx="2450592" cy="3276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Garbage accumulation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70332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29784" y="3822191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4178808"/>
            <a:ext cx="245059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Non-working public 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703320"/>
            <a:ext cx="2743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47304" y="3822191"/>
            <a:ext cx="245059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 &amp;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4178808"/>
            <a:ext cx="245059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and traffic-related complaints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5212845"/>
            <a:ext cx="1097280" cy="3276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71800" y="5266944"/>
            <a:ext cx="8571271" cy="26718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 Data  →  AI Analysis  →  Patterns  →  Possible Factors  →  Human 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5642955"/>
            <a:ext cx="896112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organizes evidence; it does not automatically decide what authorities should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594382"/>
            <a:ext cx="9692640" cy="6822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9968" y="1368573"/>
            <a:ext cx="89611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dirty="0">
                <a:solidFill>
                  <a:srgbClr val="313131"/>
                </a:solidFill>
                <a:latin typeface="Aptos"/>
              </a:rPr>
              <a:t>Manual review becomes difficult when large numbers of complaints are collected from different locations and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184189"/>
            <a:ext cx="8254574" cy="2060885"/>
          </a:xfrm>
          <a:prstGeom prst="rect">
            <a:avLst/>
          </a:prstGeom>
          <a:noFill/>
        </p:spPr>
        <p:txBody>
          <a:bodyPr wrap="square" lIns="45720" tIns="27432" r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Similar complaints may appear repeatedly in different records.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Recurring problems can be difficult to identify manually.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Location and context information may be scattered across descriptions.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Complaint categories may not be consistently organized.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Possible contributing factors can be confused with confirmed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4622292"/>
            <a:ext cx="891540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7446" y="4794104"/>
            <a:ext cx="1325880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</a:t>
            </a:r>
            <a:r>
              <a:rPr lang="en-US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b="1" dirty="0">
              <a:solidFill>
                <a:srgbClr val="2E5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1777" y="4815735"/>
            <a:ext cx="7269480" cy="5559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AI identify recurring urban grievance patterns and possible contributing factors while keeping humans responsible for verification and decisions?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438912"/>
            <a:ext cx="9692640" cy="6603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094476"/>
            <a:ext cx="9509760" cy="3276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Sustainable Development Goal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SDG 11 — Sustainable Cities and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417320"/>
            <a:ext cx="896112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better understanding of recurring urban-service challenges through structured complaint analysis.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591732"/>
              </p:ext>
            </p:extLst>
          </p:nvPr>
        </p:nvGraphicFramePr>
        <p:xfrm>
          <a:off x="2035277" y="2206278"/>
          <a:ext cx="891009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Issue</a:t>
                      </a:r>
                    </a:p>
                  </a:txBody>
                  <a:tcPr marL="73152" marR="54864" marT="36576" marB="27432">
                    <a:solidFill>
                      <a:srgbClr val="2E53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SmartCity Insight AI Helps</a:t>
                      </a:r>
                    </a:p>
                  </a:txBody>
                  <a:tcPr marL="73152" marR="54864" marT="36576" marB="27432">
                    <a:solidFill>
                      <a:srgbClr val="2E53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Waterlogging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repeated waterlogging patterns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Drainage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Groups recurring drainage complaints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repeated waste-related complaints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recurring road damage / pothole reports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Streetlights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patterns of non-working streetlights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&amp; Noise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Groups recurring transport and noise complaints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Services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20" b="0">
                          <a:solidFill>
                            <a:srgbClr val="313131"/>
                          </a:solidFill>
                          <a:latin typeface="Aptos"/>
                        </a:defRPr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structured evidence for human investigation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93392" y="5742432"/>
            <a:ext cx="886968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sz="2000" b="0" dirty="0">
                <a:solidFill>
                  <a:srgbClr val="5669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directly solve these problems; it provides structured information that can support human investigation and urban-service planning</a:t>
            </a:r>
            <a:r>
              <a:rPr sz="2000" b="0" dirty="0">
                <a:solidFill>
                  <a:srgbClr val="5669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438912"/>
            <a:ext cx="9692640" cy="6822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1120502"/>
            <a:ext cx="8961120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multi-step pipeline converts raw complaint records into structured insights and investigation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79" y="2168059"/>
            <a:ext cx="987551" cy="5559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
Dataset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4096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82111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27831" y="2199317"/>
            <a:ext cx="987551" cy="4934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
Extraction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70247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43983" y="2086209"/>
            <a:ext cx="987551" cy="719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Complaint
Classification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86399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14415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0135" y="2086209"/>
            <a:ext cx="987551" cy="719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Complaint
Grouping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702551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30567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76287" y="2086209"/>
            <a:ext cx="987551" cy="719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&amp; Hotspot
Detection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18703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19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2440" y="2038793"/>
            <a:ext cx="987551" cy="8144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Factor
Analysis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34855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262872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08592" y="2086209"/>
            <a:ext cx="987551" cy="71962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&amp;
Action Report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51007" y="2276856"/>
            <a:ext cx="109728" cy="274320"/>
          </a:xfrm>
          <a:prstGeom prst="rightArrow">
            <a:avLst/>
          </a:prstGeom>
          <a:solidFill>
            <a:srgbClr val="7D9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479024" y="1965960"/>
            <a:ext cx="107899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24744" y="2199317"/>
            <a:ext cx="987551" cy="4934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
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338818"/>
            <a:ext cx="2743200" cy="8061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AI Analysis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3" y="4216630"/>
            <a:ext cx="4654294" cy="1816844"/>
          </a:xfrm>
          <a:prstGeom prst="rect">
            <a:avLst/>
          </a:prstGeom>
          <a:noFill/>
        </p:spPr>
        <p:txBody>
          <a:bodyPr wrap="square" lIns="45720" tIns="27432" r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1. Extract problem, location, date, context and evidence.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2. Classify complaints into consistent categories.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3. Group similar complaints describing the same issue.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4. Detect repeated patterns, hotspots and supporting IDs.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5. Suggest possible contributing factors—not proven causes.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50">
                <a:solidFill>
                  <a:srgbClr val="313131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6. Generate a structured report with verification steps and       limitations.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4529" y="3730751"/>
            <a:ext cx="3873910" cy="19326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28431" y="3749326"/>
            <a:ext cx="2679192" cy="418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4167710"/>
            <a:ext cx="2679192" cy="14910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</a:t>
            </a:r>
            <a:endParaRPr lang="en-US" b="0" dirty="0">
              <a:solidFill>
                <a:srgbClr val="3131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 IBM Granite </a:t>
            </a:r>
            <a:endParaRPr lang="en-US" b="0" dirty="0">
              <a:solidFill>
                <a:srgbClr val="3131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 Python </a:t>
            </a:r>
            <a:endParaRPr lang="en-US" b="0" dirty="0">
              <a:solidFill>
                <a:srgbClr val="3131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 </a:t>
            </a:r>
            <a:r>
              <a:rPr b="0" dirty="0" err="1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0" dirty="0">
              <a:solidFill>
                <a:srgbClr val="3131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 Synthetic CSV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84248" y="510994"/>
            <a:ext cx="9692640" cy="6822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325880"/>
            <a:ext cx="8961120" cy="3276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is designed as a decision-support and analysis tool for urban-service stakeholders.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96596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12264" y="2084831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 Officials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441448"/>
            <a:ext cx="2404872" cy="5559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recurring complaint patterns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96596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8344" y="2084831"/>
            <a:ext cx="2404872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2724537"/>
            <a:ext cx="2404872" cy="5559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repeated issues across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6596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64424" y="2084831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2441448"/>
            <a:ext cx="2404872" cy="5559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areas that may need field inspection.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365760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12264" y="3686162"/>
            <a:ext cx="2404872" cy="5559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Service</a:t>
            </a:r>
            <a:endParaRPr lang="en-US" sz="1600" b="1" dirty="0">
              <a:solidFill>
                <a:srgbClr val="2E5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5000"/>
              </a:lnSpc>
            </a:pPr>
            <a:r>
              <a:rPr sz="16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4" y="4242083"/>
            <a:ext cx="2404872" cy="8144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drainage, waste, roads, lighting and transport complaints.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65760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38344" y="3776472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4133087"/>
            <a:ext cx="240487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structured patterns for deeper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657600"/>
            <a:ext cx="26974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64424" y="3776472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4133087"/>
            <a:ext cx="2404872" cy="909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urban-service insights as one input for sustainability studies.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339739"/>
            <a:ext cx="8778240" cy="8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sz="2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SmartCity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 AI supports analysis; it is not an automated government decision-making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438912"/>
            <a:ext cx="9692640" cy="6603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325880"/>
            <a:ext cx="8961120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principles are built into the way findings are generated and presented.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938528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12264" y="2057400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414016"/>
            <a:ext cx="2404872" cy="719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findings must be checked against real-world evidence before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938528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8344" y="2057400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2414016"/>
            <a:ext cx="2404872" cy="719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contributing factors are clearly separated from confirmed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38528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64424" y="1938528"/>
            <a:ext cx="2404872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2621932"/>
            <a:ext cx="2404872" cy="719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evidence → AI interpretation → recommended investigation.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3675887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12264" y="3794759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2264" y="4151375"/>
            <a:ext cx="2404872" cy="9458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demonstration uses synthetic complaint data without real citizen personal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675887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38344" y="3794759"/>
            <a:ext cx="2404872" cy="61850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4364106"/>
            <a:ext cx="2404872" cy="62465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does not decide priorities, resource allocation, departments or government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675887"/>
            <a:ext cx="2697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64424" y="3794759"/>
            <a:ext cx="2404872" cy="3578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4151375"/>
            <a:ext cx="2404872" cy="9458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complaint volume does not automatically mean higher severity; reporting behavior can affect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438912"/>
            <a:ext cx="9692640" cy="6603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4248" y="1298448"/>
            <a:ext cx="8961120" cy="8061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project focuses on improving the organization and analysis of urban complaint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55418"/>
            <a:ext cx="2743200" cy="418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8730" y="2960718"/>
            <a:ext cx="4572000" cy="2876493"/>
          </a:xfrm>
          <a:prstGeom prst="rect">
            <a:avLst/>
          </a:prstGeom>
          <a:noFill/>
        </p:spPr>
        <p:txBody>
          <a:bodyPr wrap="square" lIns="45720" tIns="27432" r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Faster identification of recurring patterns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Structured evidence linked to complaint IDs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Better support for investigation and field verification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Systematic understanding of categories and locations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Human-centered decision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2152336"/>
            <a:ext cx="3200400" cy="8061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Future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3006224"/>
            <a:ext cx="3794760" cy="2553328"/>
          </a:xfrm>
          <a:prstGeom prst="rect">
            <a:avLst/>
          </a:prstGeom>
          <a:noFill/>
        </p:spPr>
        <p:txBody>
          <a:bodyPr wrap="square" lIns="45720" tIns="27432" r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Geographic maps and hotspot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Time-based trend analysis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Advanced complaint clustering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Municipal data integration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Infrastructure monitoring</a:t>
            </a:r>
          </a:p>
          <a:p>
            <a:pPr>
              <a:lnSpc>
                <a:spcPct val="105000"/>
              </a:lnSpc>
              <a:spcAft>
                <a:spcPts val="400"/>
              </a:spcAft>
              <a:defRPr sz="1220">
                <a:solidFill>
                  <a:srgbClr val="31313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Sustainability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5543464"/>
            <a:ext cx="89154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9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5936" y="5686356"/>
            <a:ext cx="141732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</a:t>
            </a:r>
            <a:r>
              <a:rPr lang="en-US" sz="20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 dirty="0">
              <a:solidFill>
                <a:srgbClr val="2E5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91625" y="5693300"/>
            <a:ext cx="7086600" cy="6810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dirty="0">
                <a:solidFill>
                  <a:srgbClr val="3131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uses synthetic/demo data. Real-world impact has not yet been measured; listed benefits are expected or planned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5ADC-0A49-C4A4-94A9-0C5E95BF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e4868a-a293-4538-a11b-9d03cf965c2e.png">
            <a:extLst>
              <a:ext uri="{FF2B5EF4-FFF2-40B4-BE49-F238E27FC236}">
                <a16:creationId xmlns:a16="http://schemas.microsoft.com/office/drawing/2014/main" id="{2C808BDE-09D6-4F57-7688-B78419DB9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2EC1CE-CA4D-4CA3-480A-E41045637F0B}"/>
              </a:ext>
            </a:extLst>
          </p:cNvPr>
          <p:cNvSpPr txBox="1"/>
          <p:nvPr/>
        </p:nvSpPr>
        <p:spPr>
          <a:xfrm>
            <a:off x="3332646" y="2677126"/>
            <a:ext cx="9692640" cy="1144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7200" b="1" dirty="0">
                <a:solidFill>
                  <a:srgbClr val="2E53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7200" b="1" dirty="0">
              <a:solidFill>
                <a:srgbClr val="2E53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97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785</Words>
  <Application>Microsoft Office PowerPoint</Application>
  <PresentationFormat>Widescreen</PresentationFormat>
  <Paragraphs>125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vyshnavikalava939@outlook.com</cp:lastModifiedBy>
  <cp:revision>2</cp:revision>
  <dcterms:created xsi:type="dcterms:W3CDTF">2013-01-27T09:14:16Z</dcterms:created>
  <dcterms:modified xsi:type="dcterms:W3CDTF">2026-09-20T16:58:11Z</dcterms:modified>
  <cp:category/>
</cp:coreProperties>
</file>